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4"/>
  </p:sldMasterIdLst>
  <p:notesMasterIdLst>
    <p:notesMasterId r:id="rId16"/>
  </p:notesMasterIdLst>
  <p:handoutMasterIdLst>
    <p:handoutMasterId r:id="rId17"/>
  </p:handoutMasterIdLst>
  <p:sldIdLst>
    <p:sldId id="376" r:id="rId5"/>
    <p:sldId id="379" r:id="rId6"/>
    <p:sldId id="389" r:id="rId7"/>
    <p:sldId id="378" r:id="rId8"/>
    <p:sldId id="390" r:id="rId9"/>
    <p:sldId id="391" r:id="rId10"/>
    <p:sldId id="383" r:id="rId11"/>
    <p:sldId id="393" r:id="rId12"/>
    <p:sldId id="394" r:id="rId13"/>
    <p:sldId id="395" r:id="rId14"/>
    <p:sldId id="38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7A1A"/>
    <a:srgbClr val="0D0D0D"/>
    <a:srgbClr val="2C4A5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5388" autoAdjust="0"/>
  </p:normalViewPr>
  <p:slideViewPr>
    <p:cSldViewPr snapToGrid="0" showGuides="1">
      <p:cViewPr varScale="1">
        <p:scale>
          <a:sx n="77" d="100"/>
          <a:sy n="77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1/2/2026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1/2/2026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8711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64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206913-4198-C5BA-6B13-02095EAA2B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770BC68-C025-CE63-EEBA-5DC7ADC44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F993316-5D9D-6B5D-B678-3E0B84A3C0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1C39372-CEC6-2265-7611-84F187C126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E13D63F-D0AC-7CD2-770C-6AB09F1BA6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85BF73EF-490D-CA1C-DAD3-BACB141D09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B82C914D-7190-2AD0-228B-6DA1384376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DAE3299D-125C-8DBC-60F9-82920ADE3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B84261D4-8740-689B-A5CA-C6442BC13E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D4393D6-D866-E411-A222-2FE8B99C4D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94666BC0-682D-FE04-6EC3-AA81EA3F9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3709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67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551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9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12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920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25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195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268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6274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9" r:id="rId5"/>
    <p:sldLayoutId id="2147483746" r:id="rId6"/>
    <p:sldLayoutId id="2147483747" r:id="rId7"/>
    <p:sldLayoutId id="2147483748" r:id="rId8"/>
    <p:sldLayoutId id="2147483750" r:id="rId9"/>
    <p:sldLayoutId id="2147483756" r:id="rId10"/>
    <p:sldLayoutId id="2147483751" r:id="rId11"/>
    <p:sldLayoutId id="2147483752" r:id="rId12"/>
    <p:sldLayoutId id="2147483754" r:id="rId13"/>
    <p:sldLayoutId id="2147483755" r:id="rId14"/>
    <p:sldLayoutId id="2147483753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7643F50D-950F-5A7E-722A-79E4F5D31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1583" y="2782957"/>
            <a:ext cx="6265130" cy="153332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IN" sz="4400" b="1" dirty="0">
                <a:solidFill>
                  <a:schemeClr val="accent6"/>
                </a:solidFill>
              </a:rPr>
              <a:t>Regression Models are Used in Business</a:t>
            </a:r>
            <a:endParaRPr lang="en-IN" sz="4400" b="1" dirty="0">
              <a:solidFill>
                <a:schemeClr val="accent6"/>
              </a:solidFill>
              <a:effectLst/>
            </a:endParaRPr>
          </a:p>
        </p:txBody>
      </p:sp>
      <p:sp>
        <p:nvSpPr>
          <p:cNvPr id="96" name="Subtitle 95">
            <a:extLst>
              <a:ext uri="{FF2B5EF4-FFF2-40B4-BE49-F238E27FC236}">
                <a16:creationId xmlns:a16="http://schemas.microsoft.com/office/drawing/2014/main" id="{1C5A4B6C-BAC7-A685-A9B1-2F354B128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8152" y="5248834"/>
            <a:ext cx="4323426" cy="1008925"/>
          </a:xfrm>
        </p:spPr>
        <p:txBody>
          <a:bodyPr/>
          <a:lstStyle/>
          <a:p>
            <a:r>
              <a:rPr lang="en-US" dirty="0">
                <a:latin typeface="+mj-lt"/>
              </a:rPr>
              <a:t>Presentation by: </a:t>
            </a:r>
          </a:p>
          <a:p>
            <a:r>
              <a:rPr lang="en-US" dirty="0">
                <a:latin typeface="+mj-lt"/>
              </a:rPr>
              <a:t>Patil </a:t>
            </a:r>
            <a:r>
              <a:rPr lang="en-US" dirty="0" err="1">
                <a:latin typeface="+mj-lt"/>
              </a:rPr>
              <a:t>kruti</a:t>
            </a:r>
            <a:endParaRPr lang="en-US" dirty="0">
              <a:latin typeface="+mj-lt"/>
            </a:endParaRPr>
          </a:p>
        </p:txBody>
      </p:sp>
      <p:pic>
        <p:nvPicPr>
          <p:cNvPr id="82" name="Picture Placeholder 81">
            <a:extLst>
              <a:ext uri="{FF2B5EF4-FFF2-40B4-BE49-F238E27FC236}">
                <a16:creationId xmlns:a16="http://schemas.microsoft.com/office/drawing/2014/main" id="{146F06CC-0FBA-25FB-03E4-AEA27BB636B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9802" b="9802"/>
          <a:stretch/>
        </p:blipFill>
        <p:spPr>
          <a:xfrm>
            <a:off x="0" y="-2234"/>
            <a:ext cx="5762856" cy="6949686"/>
          </a:xfrm>
        </p:spPr>
      </p:pic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D96C8D99-3232-849B-9CC8-6E4982208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507757" y="-11160"/>
            <a:ext cx="2553080" cy="6858841"/>
          </a:xfrm>
          <a:custGeom>
            <a:avLst/>
            <a:gdLst>
              <a:gd name="connsiteX0" fmla="*/ 2526446 w 2553080"/>
              <a:gd name="connsiteY0" fmla="*/ 0 h 6858841"/>
              <a:gd name="connsiteX1" fmla="*/ 1707127 w 2553080"/>
              <a:gd name="connsiteY1" fmla="*/ 3182290 h 6858841"/>
              <a:gd name="connsiteX2" fmla="*/ 1365955 w 2553080"/>
              <a:gd name="connsiteY2" fmla="*/ 4453431 h 6858841"/>
              <a:gd name="connsiteX3" fmla="*/ 1182052 w 2553080"/>
              <a:gd name="connsiteY3" fmla="*/ 4538343 h 6858841"/>
              <a:gd name="connsiteX4" fmla="*/ 1070442 w 2553080"/>
              <a:gd name="connsiteY4" fmla="*/ 4344440 h 6858841"/>
              <a:gd name="connsiteX5" fmla="*/ 1329175 w 2553080"/>
              <a:gd name="connsiteY5" fmla="*/ 3390133 h 6858841"/>
              <a:gd name="connsiteX6" fmla="*/ 1311418 w 2553080"/>
              <a:gd name="connsiteY6" fmla="*/ 3250726 h 6858841"/>
              <a:gd name="connsiteX7" fmla="*/ 1199808 w 2553080"/>
              <a:gd name="connsiteY7" fmla="*/ 3164547 h 6858841"/>
              <a:gd name="connsiteX8" fmla="*/ 975320 w 2553080"/>
              <a:gd name="connsiteY8" fmla="*/ 3293816 h 6858841"/>
              <a:gd name="connsiteX9" fmla="*/ 582148 w 2553080"/>
              <a:gd name="connsiteY9" fmla="*/ 4743652 h 6858841"/>
              <a:gd name="connsiteX10" fmla="*/ 5073 w 2553080"/>
              <a:gd name="connsiteY10" fmla="*/ 6842367 h 6858841"/>
              <a:gd name="connsiteX11" fmla="*/ 0 w 2553080"/>
              <a:gd name="connsiteY11" fmla="*/ 6858842 h 6858841"/>
              <a:gd name="connsiteX12" fmla="*/ 26634 w 2553080"/>
              <a:gd name="connsiteY12" fmla="*/ 6858842 h 6858841"/>
              <a:gd name="connsiteX13" fmla="*/ 607514 w 2553080"/>
              <a:gd name="connsiteY13" fmla="*/ 4751256 h 6858841"/>
              <a:gd name="connsiteX14" fmla="*/ 1000686 w 2553080"/>
              <a:gd name="connsiteY14" fmla="*/ 3301420 h 6858841"/>
              <a:gd name="connsiteX15" fmla="*/ 1194735 w 2553080"/>
              <a:gd name="connsiteY15" fmla="*/ 3189894 h 6858841"/>
              <a:gd name="connsiteX16" fmla="*/ 1289857 w 2553080"/>
              <a:gd name="connsiteY16" fmla="*/ 3263399 h 6858841"/>
              <a:gd name="connsiteX17" fmla="*/ 1305077 w 2553080"/>
              <a:gd name="connsiteY17" fmla="*/ 3383797 h 6858841"/>
              <a:gd name="connsiteX18" fmla="*/ 1046345 w 2553080"/>
              <a:gd name="connsiteY18" fmla="*/ 4338103 h 6858841"/>
              <a:gd name="connsiteX19" fmla="*/ 1175711 w 2553080"/>
              <a:gd name="connsiteY19" fmla="*/ 4562423 h 6858841"/>
              <a:gd name="connsiteX20" fmla="*/ 1390053 w 2553080"/>
              <a:gd name="connsiteY20" fmla="*/ 4462303 h 6858841"/>
              <a:gd name="connsiteX21" fmla="*/ 1390053 w 2553080"/>
              <a:gd name="connsiteY21" fmla="*/ 4461035 h 6858841"/>
              <a:gd name="connsiteX22" fmla="*/ 1731225 w 2553080"/>
              <a:gd name="connsiteY22" fmla="*/ 3188627 h 6858841"/>
              <a:gd name="connsiteX23" fmla="*/ 2553081 w 2553080"/>
              <a:gd name="connsiteY23" fmla="*/ 1267 h 6858841"/>
              <a:gd name="connsiteX24" fmla="*/ 2526446 w 2553080"/>
              <a:gd name="connsiteY24" fmla="*/ 0 h 6858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53080" h="6858841">
                <a:moveTo>
                  <a:pt x="2526446" y="0"/>
                </a:moveTo>
                <a:lnTo>
                  <a:pt x="1707127" y="3182290"/>
                </a:lnTo>
                <a:lnTo>
                  <a:pt x="1365955" y="4453431"/>
                </a:lnTo>
                <a:cubicBezTo>
                  <a:pt x="1332979" y="4523135"/>
                  <a:pt x="1255613" y="4558621"/>
                  <a:pt x="1182052" y="4538343"/>
                </a:cubicBezTo>
                <a:cubicBezTo>
                  <a:pt x="1098345" y="4515531"/>
                  <a:pt x="1047613" y="4428085"/>
                  <a:pt x="1070442" y="4344440"/>
                </a:cubicBezTo>
                <a:lnTo>
                  <a:pt x="1329175" y="3390133"/>
                </a:lnTo>
                <a:cubicBezTo>
                  <a:pt x="1341858" y="3343242"/>
                  <a:pt x="1335516" y="3293816"/>
                  <a:pt x="1311418" y="3250726"/>
                </a:cubicBezTo>
                <a:cubicBezTo>
                  <a:pt x="1287321" y="3207637"/>
                  <a:pt x="1248004" y="3177220"/>
                  <a:pt x="1199808" y="3164547"/>
                </a:cubicBezTo>
                <a:cubicBezTo>
                  <a:pt x="1102150" y="3137933"/>
                  <a:pt x="1000686" y="3196230"/>
                  <a:pt x="975320" y="3293816"/>
                </a:cubicBezTo>
                <a:lnTo>
                  <a:pt x="582148" y="4743652"/>
                </a:lnTo>
                <a:lnTo>
                  <a:pt x="5073" y="6842367"/>
                </a:lnTo>
                <a:cubicBezTo>
                  <a:pt x="5073" y="6842367"/>
                  <a:pt x="1268" y="6855040"/>
                  <a:pt x="0" y="6858842"/>
                </a:cubicBezTo>
                <a:lnTo>
                  <a:pt x="26634" y="6858842"/>
                </a:lnTo>
                <a:lnTo>
                  <a:pt x="607514" y="4751256"/>
                </a:lnTo>
                <a:lnTo>
                  <a:pt x="1000686" y="3301420"/>
                </a:lnTo>
                <a:cubicBezTo>
                  <a:pt x="1023515" y="3217775"/>
                  <a:pt x="1111028" y="3167082"/>
                  <a:pt x="1194735" y="3189894"/>
                </a:cubicBezTo>
                <a:cubicBezTo>
                  <a:pt x="1235321" y="3201300"/>
                  <a:pt x="1269565" y="3226647"/>
                  <a:pt x="1289857" y="3263399"/>
                </a:cubicBezTo>
                <a:cubicBezTo>
                  <a:pt x="1311418" y="3300152"/>
                  <a:pt x="1316492" y="3341975"/>
                  <a:pt x="1305077" y="3383797"/>
                </a:cubicBezTo>
                <a:lnTo>
                  <a:pt x="1046345" y="4338103"/>
                </a:lnTo>
                <a:cubicBezTo>
                  <a:pt x="1019710" y="4435689"/>
                  <a:pt x="1078052" y="4537076"/>
                  <a:pt x="1175711" y="4562423"/>
                </a:cubicBezTo>
                <a:cubicBezTo>
                  <a:pt x="1261955" y="4585235"/>
                  <a:pt x="1352004" y="4543413"/>
                  <a:pt x="1390053" y="4462303"/>
                </a:cubicBezTo>
                <a:lnTo>
                  <a:pt x="1390053" y="4461035"/>
                </a:lnTo>
                <a:lnTo>
                  <a:pt x="1731225" y="3188627"/>
                </a:lnTo>
                <a:lnTo>
                  <a:pt x="2553081" y="1267"/>
                </a:lnTo>
                <a:cubicBezTo>
                  <a:pt x="2544203" y="0"/>
                  <a:pt x="2535325" y="0"/>
                  <a:pt x="2526446" y="0"/>
                </a:cubicBezTo>
                <a:close/>
              </a:path>
            </a:pathLst>
          </a:custGeom>
          <a:solidFill>
            <a:schemeClr val="accent1"/>
          </a:solidFill>
          <a:ln w="91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979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4D835925-3D21-0B99-9A6C-587FBAE433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848" y="696179"/>
            <a:ext cx="6732237" cy="568961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What is Regression?</a:t>
            </a:r>
            <a:endParaRPr lang="en-US" b="1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67690BC-58BE-BD46-38A4-61EC504EA89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37196" y="1619506"/>
            <a:ext cx="6732237" cy="3051762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Sitka Text" pitchFamily="2" charset="0"/>
              </a:rPr>
              <a:t>Regression predicts numerical outcomes based on input variables.</a:t>
            </a:r>
          </a:p>
          <a:p>
            <a:r>
              <a:rPr lang="en-US" sz="2000" dirty="0">
                <a:latin typeface="Sitka Text" pitchFamily="2" charset="0"/>
              </a:rPr>
              <a:t>Used for forecasting, optimization, and decision-making.</a:t>
            </a:r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52D45C27-4F4D-5A89-8C52-CB8FC47BCEF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565" r="3565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9F9E98-4CCE-D657-A6E5-4C45E51B6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473" y="3313605"/>
            <a:ext cx="3544395" cy="354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8596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Placeholder 82" descr="A person writing at a desk&#10;">
            <a:extLst>
              <a:ext uri="{FF2B5EF4-FFF2-40B4-BE49-F238E27FC236}">
                <a16:creationId xmlns:a16="http://schemas.microsoft.com/office/drawing/2014/main" id="{79723FB2-CDBE-ABDD-9BC6-1E8D5204E7B7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7594" r="7594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0F88C39-60B8-7163-0602-9B68A9FCD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C51E62-7F55-3B6A-FF5F-39D8CFE74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320040"/>
            <a:ext cx="7032880" cy="1017147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Types of Regression Models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BC786-DACF-D63D-553F-4EDB8E95A2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4242" y="1749479"/>
            <a:ext cx="788639" cy="533400"/>
          </a:xfrm>
        </p:spPr>
        <p:txBody>
          <a:bodyPr/>
          <a:lstStyle/>
          <a:p>
            <a:r>
              <a:rPr lang="en-US" dirty="0"/>
              <a:t>o1.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4B3C1A-3346-F617-2EC7-C16586CF19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43379" y="1749479"/>
            <a:ext cx="5885179" cy="533400"/>
          </a:xfrm>
        </p:spPr>
        <p:txBody>
          <a:bodyPr/>
          <a:lstStyle/>
          <a:p>
            <a:r>
              <a:rPr lang="en-IN" dirty="0"/>
              <a:t>Linear Regression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880F1A-5BCC-F84F-3EED-7FA660DEB3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24242" y="2378035"/>
            <a:ext cx="788639" cy="533400"/>
          </a:xfrm>
        </p:spPr>
        <p:txBody>
          <a:bodyPr/>
          <a:lstStyle/>
          <a:p>
            <a:r>
              <a:rPr lang="en-US" dirty="0"/>
              <a:t>o2.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A9475A-A652-4BB2-F82D-18D978C397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3379" y="2378035"/>
            <a:ext cx="5885179" cy="533400"/>
          </a:xfrm>
        </p:spPr>
        <p:txBody>
          <a:bodyPr/>
          <a:lstStyle/>
          <a:p>
            <a:r>
              <a:rPr lang="en-IN" dirty="0"/>
              <a:t>Multiple Regression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BA4606E-0589-2AE6-3A39-D84CDB2487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4242" y="3006909"/>
            <a:ext cx="788639" cy="533400"/>
          </a:xfrm>
        </p:spPr>
        <p:txBody>
          <a:bodyPr/>
          <a:lstStyle/>
          <a:p>
            <a:r>
              <a:rPr lang="en-US" dirty="0"/>
              <a:t>o3.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E5E134-360B-2943-34EC-C57477A8C82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643379" y="3009613"/>
            <a:ext cx="5885179" cy="533400"/>
          </a:xfrm>
        </p:spPr>
        <p:txBody>
          <a:bodyPr/>
          <a:lstStyle/>
          <a:p>
            <a:r>
              <a:rPr lang="en-IN" dirty="0"/>
              <a:t>Polynomial Regression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E7CD20-3130-C2BD-2379-6EB766F556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4242" y="3635783"/>
            <a:ext cx="788639" cy="533400"/>
          </a:xfrm>
        </p:spPr>
        <p:txBody>
          <a:bodyPr/>
          <a:lstStyle/>
          <a:p>
            <a:r>
              <a:rPr lang="en-US" dirty="0"/>
              <a:t>o4.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7F6B17-F299-A158-A26D-47FCD7A197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643379" y="3638169"/>
            <a:ext cx="5885179" cy="5334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Logistic Regression (classification but used in business)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C4E845-9A78-36A5-60F3-A22DFD93825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4242" y="4264656"/>
            <a:ext cx="788639" cy="533400"/>
          </a:xfrm>
        </p:spPr>
        <p:txBody>
          <a:bodyPr/>
          <a:lstStyle/>
          <a:p>
            <a:r>
              <a:rPr lang="en-US" dirty="0"/>
              <a:t>o5.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5FE4BA-08C1-FBA0-844E-67EA006290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643379" y="4269747"/>
            <a:ext cx="5885179" cy="533400"/>
          </a:xfrm>
        </p:spPr>
        <p:txBody>
          <a:bodyPr/>
          <a:lstStyle/>
          <a:p>
            <a:r>
              <a:rPr lang="en-IN" dirty="0"/>
              <a:t>Time-Series Regression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8B1A91E-7D63-4E15-B7EA-0453BC152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F0A32002-CC31-2B6D-7A5D-66EDF27611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19D6ED2-972A-D3E9-ADCE-6524C8278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55973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2EA33AE-2E4E-2AD0-7AAD-FF06CBACB6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3722" y="715654"/>
            <a:ext cx="6013173" cy="1518315"/>
          </a:xfrm>
        </p:spPr>
        <p:txBody>
          <a:bodyPr/>
          <a:lstStyle/>
          <a:p>
            <a:r>
              <a:rPr lang="en-IN" dirty="0"/>
              <a:t>Why Businesses Use Regression</a:t>
            </a:r>
            <a:endParaRPr lang="en-US" dirty="0"/>
          </a:p>
        </p:txBody>
      </p:sp>
      <p:pic>
        <p:nvPicPr>
          <p:cNvPr id="11" name="Picture Placeholder 10" descr="A person with his hand on his chin">
            <a:extLst>
              <a:ext uri="{FF2B5EF4-FFF2-40B4-BE49-F238E27FC236}">
                <a16:creationId xmlns:a16="http://schemas.microsoft.com/office/drawing/2014/main" id="{8FB04EF3-CC57-2C94-49E0-6F49EAA5217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72" r="172"/>
          <a:stretch/>
        </p:blipFill>
        <p:spPr>
          <a:xfrm>
            <a:off x="0" y="-2235"/>
            <a:ext cx="5840730" cy="6862275"/>
          </a:xfr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3B8BFA9-FBE9-EDA2-FBB1-C2B55CD7C8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1" y="2642939"/>
            <a:ext cx="5343938" cy="2569866"/>
          </a:xfrm>
        </p:spPr>
        <p:txBody>
          <a:bodyPr>
            <a:normAutofit/>
          </a:bodyPr>
          <a:lstStyle/>
          <a:p>
            <a:r>
              <a:rPr lang="en-IN" sz="1600" dirty="0">
                <a:solidFill>
                  <a:schemeClr val="accent1"/>
                </a:solidFill>
              </a:rPr>
              <a:t>Forecast sales</a:t>
            </a:r>
          </a:p>
          <a:p>
            <a:r>
              <a:rPr lang="en-IN" sz="1600" dirty="0">
                <a:solidFill>
                  <a:schemeClr val="accent1"/>
                </a:solidFill>
              </a:rPr>
              <a:t>Predict customer demand</a:t>
            </a:r>
          </a:p>
          <a:p>
            <a:r>
              <a:rPr lang="en-IN" sz="1600" dirty="0">
                <a:solidFill>
                  <a:schemeClr val="accent1"/>
                </a:solidFill>
              </a:rPr>
              <a:t>Estimate pricing sensitivity</a:t>
            </a:r>
          </a:p>
          <a:p>
            <a:r>
              <a:rPr lang="en-IN" sz="1600" dirty="0">
                <a:solidFill>
                  <a:schemeClr val="accent1"/>
                </a:solidFill>
              </a:rPr>
              <a:t>Identify key business drivers</a:t>
            </a:r>
          </a:p>
          <a:p>
            <a:r>
              <a:rPr lang="en-IN" sz="1600" dirty="0">
                <a:solidFill>
                  <a:schemeClr val="accent1"/>
                </a:solidFill>
              </a:rPr>
              <a:t>Optimize marketing spend</a:t>
            </a:r>
            <a:endParaRPr lang="en-US" sz="1600" dirty="0">
              <a:solidFill>
                <a:schemeClr val="accent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73E677C-B30B-9361-1557-EE90A7448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9511001-6F2E-D16C-C5A6-4486407F6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479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C324-1E94-FA8F-231C-1C169804E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821F20DA-8446-8098-78BF-6C607BB6FF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7848" y="696179"/>
            <a:ext cx="6732237" cy="568961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Sales Forecasting</a:t>
            </a:r>
            <a:endParaRPr lang="en-US" b="1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2A9EC67-5641-817A-5A31-4BD9A57D6060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37196" y="1619506"/>
            <a:ext cx="6732237" cy="34096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Sitka Text" pitchFamily="2" charset="0"/>
              </a:rPr>
              <a:t> Regression helps predict future sales using:</a:t>
            </a:r>
            <a:endParaRPr lang="en-IN" sz="3600" dirty="0">
              <a:latin typeface="Sitka Text" pitchFamily="2" charset="0"/>
            </a:endParaRP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Sitka Text" pitchFamily="2" charset="0"/>
              </a:rPr>
              <a:t>Historical sales</a:t>
            </a:r>
            <a:endParaRPr lang="en-IN" sz="3200" dirty="0">
              <a:latin typeface="Sitka Text" pitchFamily="2" charset="0"/>
            </a:endParaRP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Sitka Text" pitchFamily="2" charset="0"/>
              </a:rPr>
              <a:t>Seasonality</a:t>
            </a:r>
            <a:endParaRPr lang="en-IN" sz="3200" dirty="0">
              <a:latin typeface="Sitka Text" pitchFamily="2" charset="0"/>
            </a:endParaRP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Sitka Text" pitchFamily="2" charset="0"/>
              </a:rPr>
              <a:t>Marketing spend</a:t>
            </a:r>
            <a:endParaRPr lang="en-IN" sz="3200" dirty="0">
              <a:latin typeface="Sitka Text" pitchFamily="2" charset="0"/>
            </a:endParaRP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000" dirty="0">
                <a:latin typeface="Sitka Text" pitchFamily="2" charset="0"/>
              </a:rPr>
              <a:t>Competitor pricing</a:t>
            </a:r>
            <a:endParaRPr lang="en-IN" sz="3200" dirty="0">
              <a:effectLst/>
              <a:latin typeface="Sitka Text" pitchFamily="2" charset="0"/>
            </a:endParaRPr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26BD1DB2-0B3E-FBC3-91E7-7CF9E6BC0F9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565" r="3565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08097F-AB75-08A7-2666-88FCC55149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1A3213E6-AD4F-1AB0-827D-020734EBB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5D0EB-519F-511D-739B-C1A51DDBC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12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F7B8D-35C9-5248-AA0C-F1B2BB7C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D1BBED4E-A101-8166-05B9-934B6953A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126" y="367749"/>
            <a:ext cx="7452325" cy="897392"/>
          </a:xfrm>
        </p:spPr>
        <p:txBody>
          <a:bodyPr>
            <a:no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Customer Demand Prediction</a:t>
            </a:r>
            <a:endParaRPr lang="en-US" b="1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A40C8BD0-4212-B9D7-3A54-CAE3D3C7A962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37196" y="1619506"/>
            <a:ext cx="7263804" cy="34096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Ø"/>
            </a:pPr>
            <a:r>
              <a:rPr lang="en-US" sz="2000" dirty="0">
                <a:latin typeface="Sitka Text" pitchFamily="2" charset="0"/>
              </a:rPr>
              <a:t> Businesses estimate demand using regression to improve:</a:t>
            </a:r>
          </a:p>
          <a:p>
            <a:pPr lvl="2">
              <a:lnSpc>
                <a:spcPct val="150000"/>
              </a:lnSpc>
              <a:buClr>
                <a:srgbClr val="0D0D0D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Sitka Text" pitchFamily="2" charset="0"/>
              </a:rPr>
              <a:t>Inventory planning</a:t>
            </a:r>
          </a:p>
          <a:p>
            <a:pPr lvl="2">
              <a:lnSpc>
                <a:spcPct val="150000"/>
              </a:lnSpc>
              <a:buClr>
                <a:srgbClr val="0D0D0D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Sitka Text" pitchFamily="2" charset="0"/>
              </a:rPr>
              <a:t>Logistics</a:t>
            </a:r>
          </a:p>
          <a:p>
            <a:pPr lvl="2">
              <a:lnSpc>
                <a:spcPct val="150000"/>
              </a:lnSpc>
              <a:buClr>
                <a:srgbClr val="0D0D0D"/>
              </a:buClr>
              <a:buFont typeface="Courier New" panose="02070309020205020404" pitchFamily="49" charset="0"/>
              <a:buChar char="o"/>
            </a:pPr>
            <a:r>
              <a:rPr lang="en-US" sz="2000" dirty="0">
                <a:latin typeface="Sitka Text" pitchFamily="2" charset="0"/>
              </a:rPr>
              <a:t>Production scheduling</a:t>
            </a:r>
          </a:p>
          <a:p>
            <a:pPr marL="0" indent="0">
              <a:lnSpc>
                <a:spcPct val="150000"/>
              </a:lnSpc>
              <a:buClr>
                <a:srgbClr val="0D0D0D"/>
              </a:buClr>
              <a:buNone/>
            </a:pPr>
            <a:endParaRPr lang="en-IN" sz="3600" dirty="0">
              <a:effectLst/>
              <a:latin typeface="Sitka Text" pitchFamily="2" charset="0"/>
            </a:endParaRPr>
          </a:p>
        </p:txBody>
      </p:sp>
      <p:pic>
        <p:nvPicPr>
          <p:cNvPr id="19" name="Picture Placeholder 18" descr="A person working at a desk">
            <a:extLst>
              <a:ext uri="{FF2B5EF4-FFF2-40B4-BE49-F238E27FC236}">
                <a16:creationId xmlns:a16="http://schemas.microsoft.com/office/drawing/2014/main" id="{3F72C061-9328-AEBF-E77C-01FE4433CBD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565" r="3565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33FA3A1-A42C-66C4-90D3-324B86C57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875E52E-3927-A599-C2B0-60A338FE3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15BD4-DC7D-1AC9-108E-8349F7DDE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0163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7EE4-0F77-0173-AC5A-9FBAE6AE8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408820"/>
            <a:ext cx="8935507" cy="94946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Marketing ROI Analysis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5D52-89FB-5227-DA15-3BABC4DF027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75835" y="1767107"/>
            <a:ext cx="5797550" cy="40152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Clr>
                <a:srgbClr val="0D0D0D"/>
              </a:buClr>
              <a:buFont typeface="Wingdings" panose="05000000000000000000" pitchFamily="2" charset="2"/>
              <a:buChar char="Ø"/>
            </a:pPr>
            <a:r>
              <a:rPr lang="en-US" sz="2800" dirty="0">
                <a:latin typeface="Sitka Text" pitchFamily="2" charset="0"/>
              </a:rPr>
              <a:t> Regression helps measure: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Sitka Text" pitchFamily="2" charset="0"/>
              </a:rPr>
              <a:t>Impact of ad spend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Sitka Text" pitchFamily="2" charset="0"/>
              </a:rPr>
              <a:t>Channel performance</a:t>
            </a:r>
          </a:p>
          <a:p>
            <a:pPr lvl="2">
              <a:lnSpc>
                <a:spcPct val="150000"/>
              </a:lnSpc>
            </a:pPr>
            <a:r>
              <a:rPr lang="en-US" sz="2400" dirty="0">
                <a:latin typeface="Sitka Text" pitchFamily="2" charset="0"/>
              </a:rPr>
              <a:t>ROI of campaigns</a:t>
            </a:r>
          </a:p>
        </p:txBody>
      </p:sp>
      <p:pic>
        <p:nvPicPr>
          <p:cNvPr id="14" name="Picture Placeholder 13" descr="A hand holding a wire">
            <a:extLst>
              <a:ext uri="{FF2B5EF4-FFF2-40B4-BE49-F238E27FC236}">
                <a16:creationId xmlns:a16="http://schemas.microsoft.com/office/drawing/2014/main" id="{8663049F-9392-3719-E4E8-8D7D5659E89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5747" r="5747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B1CD4-3111-5E9F-7893-9B96015B8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13DF1B8-48E1-A0F1-C69D-7B671CD1D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D9C41A-6441-7A5C-EAE1-D96C71F24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60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66EF3-BC7B-9A4D-09F8-97434939A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6E69070-97AF-A9D2-EA56-B4118B7DE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3722" y="715654"/>
            <a:ext cx="6013173" cy="1518315"/>
          </a:xfrm>
        </p:spPr>
        <p:txBody>
          <a:bodyPr/>
          <a:lstStyle/>
          <a:p>
            <a:r>
              <a:rPr lang="en-IN" dirty="0"/>
              <a:t>Pricing Strategy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10295BA-1222-128B-80B9-75CE6ED318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1" y="2642939"/>
            <a:ext cx="5343938" cy="256986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latin typeface="Sitka Text" pitchFamily="2" charset="0"/>
              </a:rPr>
              <a:t>Analyze how price changes affect demand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Sitka Text" pitchFamily="2" charset="0"/>
              </a:rPr>
              <a:t> Identify optimal price points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5AF034E-D229-95E7-B7C4-74E104C16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95847DC-CB25-8DE2-9DBA-97298CCFB1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C134E4-345C-29F1-236B-5CC4EF8046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4" name="Picture Placeholder 6" descr="A close up of a circuit board">
            <a:extLst>
              <a:ext uri="{FF2B5EF4-FFF2-40B4-BE49-F238E27FC236}">
                <a16:creationId xmlns:a16="http://schemas.microsoft.com/office/drawing/2014/main" id="{89F222BC-0AF0-B533-05DD-F65E302C3C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4" r="1194"/>
          <a:stretch/>
        </p:blipFill>
        <p:spPr>
          <a:xfrm>
            <a:off x="0" y="-21997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958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81A15-8E21-1719-DE28-09060D250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76F37-FA58-B454-B3A2-F636E6231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6322" y="408820"/>
            <a:ext cx="8935507" cy="949467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b="1" dirty="0"/>
              <a:t>Risk &amp; Financial Forecasting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1A889-B31D-1A39-0A95-D7E5A2EE64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75835" y="1767107"/>
            <a:ext cx="5797550" cy="4015244"/>
          </a:xfrm>
        </p:spPr>
        <p:txBody>
          <a:bodyPr>
            <a:normAutofit/>
          </a:bodyPr>
          <a:lstStyle/>
          <a:p>
            <a:pPr>
              <a:buClr>
                <a:srgbClr val="0D0D0D"/>
              </a:buClr>
              <a:buFont typeface="Wingdings" panose="05000000000000000000" pitchFamily="2" charset="2"/>
              <a:buChar char="Ø"/>
            </a:pPr>
            <a:r>
              <a:rPr lang="en-US" sz="2400" dirty="0">
                <a:latin typeface="Sitka Text" pitchFamily="2" charset="0"/>
              </a:rPr>
              <a:t> Used in:</a:t>
            </a:r>
          </a:p>
          <a:p>
            <a:pPr marL="635508" lvl="1" indent="-342900"/>
            <a:r>
              <a:rPr lang="en-US" sz="2400" dirty="0">
                <a:latin typeface="Sitka Text" pitchFamily="2" charset="0"/>
              </a:rPr>
              <a:t>Credit risk modeling</a:t>
            </a:r>
          </a:p>
          <a:p>
            <a:pPr marL="635508" lvl="1" indent="-342900"/>
            <a:r>
              <a:rPr lang="en-US" sz="2400" dirty="0">
                <a:latin typeface="Sitka Text" pitchFamily="2" charset="0"/>
              </a:rPr>
              <a:t>Revenue forecasting</a:t>
            </a:r>
          </a:p>
          <a:p>
            <a:pPr marL="635508" lvl="1" indent="-342900"/>
            <a:r>
              <a:rPr lang="en-US" sz="2400" dirty="0">
                <a:latin typeface="Sitka Text" pitchFamily="2" charset="0"/>
              </a:rPr>
              <a:t>Budget planning</a:t>
            </a:r>
          </a:p>
        </p:txBody>
      </p:sp>
      <p:pic>
        <p:nvPicPr>
          <p:cNvPr id="14" name="Picture Placeholder 13" descr="A hand holding a wire">
            <a:extLst>
              <a:ext uri="{FF2B5EF4-FFF2-40B4-BE49-F238E27FC236}">
                <a16:creationId xmlns:a16="http://schemas.microsoft.com/office/drawing/2014/main" id="{6E42E5F1-9BB4-D899-D96B-08660B4490B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5747" r="5747"/>
          <a:stretch/>
        </p:blipFill>
        <p:spPr>
          <a:xfrm flipH="1">
            <a:off x="7163691" y="0"/>
            <a:ext cx="5024825" cy="6858000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F9D7E-43A6-3A87-1FA2-41EC3E8E4E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B5CFCC9-505D-54F6-D8E1-956D4F49D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30C80A6-0F0E-73CE-17E5-EB82FCB9A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940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BBD1D-5EAD-E538-C639-4DFFA535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2485582-B16D-CDB7-874C-C9153D634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3722" y="715654"/>
            <a:ext cx="6013173" cy="1518315"/>
          </a:xfrm>
        </p:spPr>
        <p:txBody>
          <a:bodyPr/>
          <a:lstStyle/>
          <a:p>
            <a:r>
              <a:rPr lang="en-IN" dirty="0"/>
              <a:t>Conclusion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34FC9E3-9B0F-6329-A3D8-784140B3E3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0" y="2642939"/>
            <a:ext cx="5493025" cy="2569866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800" dirty="0">
                <a:latin typeface="Sitka Text" pitchFamily="2" charset="0"/>
              </a:rPr>
              <a:t>Regression models support data-driven decision making, improve forecasting accuracy, and optimize business operations.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4257174-D4AD-4870-60FD-5EECDA74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929081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D5E72AA-64B4-28CB-84C9-1A3D057E4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3498189" y="17722"/>
            <a:ext cx="2545001" cy="6837172"/>
          </a:xfrm>
          <a:custGeom>
            <a:avLst/>
            <a:gdLst>
              <a:gd name="connsiteX0" fmla="*/ 2518452 w 2545001"/>
              <a:gd name="connsiteY0" fmla="*/ 0 h 6837172"/>
              <a:gd name="connsiteX1" fmla="*/ 1701725 w 2545001"/>
              <a:gd name="connsiteY1" fmla="*/ 3172236 h 6837172"/>
              <a:gd name="connsiteX2" fmla="*/ 1361633 w 2545001"/>
              <a:gd name="connsiteY2" fmla="*/ 4439362 h 6837172"/>
              <a:gd name="connsiteX3" fmla="*/ 1178312 w 2545001"/>
              <a:gd name="connsiteY3" fmla="*/ 4524005 h 6837172"/>
              <a:gd name="connsiteX4" fmla="*/ 1067055 w 2545001"/>
              <a:gd name="connsiteY4" fmla="*/ 4330715 h 6837172"/>
              <a:gd name="connsiteX5" fmla="*/ 1324969 w 2545001"/>
              <a:gd name="connsiteY5" fmla="*/ 3379423 h 6837172"/>
              <a:gd name="connsiteX6" fmla="*/ 1307268 w 2545001"/>
              <a:gd name="connsiteY6" fmla="*/ 3240456 h 6837172"/>
              <a:gd name="connsiteX7" fmla="*/ 1196012 w 2545001"/>
              <a:gd name="connsiteY7" fmla="*/ 3154549 h 6837172"/>
              <a:gd name="connsiteX8" fmla="*/ 972233 w 2545001"/>
              <a:gd name="connsiteY8" fmla="*/ 3283409 h 6837172"/>
              <a:gd name="connsiteX9" fmla="*/ 580306 w 2545001"/>
              <a:gd name="connsiteY9" fmla="*/ 4728666 h 6837172"/>
              <a:gd name="connsiteX10" fmla="*/ 5057 w 2545001"/>
              <a:gd name="connsiteY10" fmla="*/ 6820750 h 6837172"/>
              <a:gd name="connsiteX11" fmla="*/ 0 w 2545001"/>
              <a:gd name="connsiteY11" fmla="*/ 6837173 h 6837172"/>
              <a:gd name="connsiteX12" fmla="*/ 26550 w 2545001"/>
              <a:gd name="connsiteY12" fmla="*/ 6837173 h 6837172"/>
              <a:gd name="connsiteX13" fmla="*/ 605591 w 2545001"/>
              <a:gd name="connsiteY13" fmla="*/ 4736246 h 6837172"/>
              <a:gd name="connsiteX14" fmla="*/ 997519 w 2545001"/>
              <a:gd name="connsiteY14" fmla="*/ 3290990 h 6837172"/>
              <a:gd name="connsiteX15" fmla="*/ 1190954 w 2545001"/>
              <a:gd name="connsiteY15" fmla="*/ 3179816 h 6837172"/>
              <a:gd name="connsiteX16" fmla="*/ 1285776 w 2545001"/>
              <a:gd name="connsiteY16" fmla="*/ 3253089 h 6837172"/>
              <a:gd name="connsiteX17" fmla="*/ 1300947 w 2545001"/>
              <a:gd name="connsiteY17" fmla="*/ 3373106 h 6837172"/>
              <a:gd name="connsiteX18" fmla="*/ 1043033 w 2545001"/>
              <a:gd name="connsiteY18" fmla="*/ 4324398 h 6837172"/>
              <a:gd name="connsiteX19" fmla="*/ 1171990 w 2545001"/>
              <a:gd name="connsiteY19" fmla="*/ 4548009 h 6837172"/>
              <a:gd name="connsiteX20" fmla="*/ 1385654 w 2545001"/>
              <a:gd name="connsiteY20" fmla="*/ 4448205 h 6837172"/>
              <a:gd name="connsiteX21" fmla="*/ 1385654 w 2545001"/>
              <a:gd name="connsiteY21" fmla="*/ 4446942 h 6837172"/>
              <a:gd name="connsiteX22" fmla="*/ 1725746 w 2545001"/>
              <a:gd name="connsiteY22" fmla="*/ 3178553 h 6837172"/>
              <a:gd name="connsiteX23" fmla="*/ 2545002 w 2545001"/>
              <a:gd name="connsiteY23" fmla="*/ 1263 h 6837172"/>
              <a:gd name="connsiteX24" fmla="*/ 2518452 w 2545001"/>
              <a:gd name="connsiteY24" fmla="*/ 0 h 6837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45001" h="6837172">
                <a:moveTo>
                  <a:pt x="2518452" y="0"/>
                </a:moveTo>
                <a:lnTo>
                  <a:pt x="1701725" y="3172236"/>
                </a:lnTo>
                <a:lnTo>
                  <a:pt x="1361633" y="4439362"/>
                </a:lnTo>
                <a:cubicBezTo>
                  <a:pt x="1328761" y="4508845"/>
                  <a:pt x="1251640" y="4544219"/>
                  <a:pt x="1178312" y="4524005"/>
                </a:cubicBezTo>
                <a:cubicBezTo>
                  <a:pt x="1094869" y="4501265"/>
                  <a:pt x="1044298" y="4414095"/>
                  <a:pt x="1067055" y="4330715"/>
                </a:cubicBezTo>
                <a:lnTo>
                  <a:pt x="1324969" y="3379423"/>
                </a:lnTo>
                <a:cubicBezTo>
                  <a:pt x="1337611" y="3332679"/>
                  <a:pt x="1331290" y="3283409"/>
                  <a:pt x="1307268" y="3240456"/>
                </a:cubicBezTo>
                <a:cubicBezTo>
                  <a:pt x="1283247" y="3197503"/>
                  <a:pt x="1244054" y="3167183"/>
                  <a:pt x="1196012" y="3154549"/>
                </a:cubicBezTo>
                <a:cubicBezTo>
                  <a:pt x="1098662" y="3128019"/>
                  <a:pt x="997519" y="3186133"/>
                  <a:pt x="972233" y="3283409"/>
                </a:cubicBezTo>
                <a:lnTo>
                  <a:pt x="580306" y="4728666"/>
                </a:lnTo>
                <a:lnTo>
                  <a:pt x="5057" y="6820750"/>
                </a:lnTo>
                <a:cubicBezTo>
                  <a:pt x="5057" y="6820750"/>
                  <a:pt x="1264" y="6833383"/>
                  <a:pt x="0" y="6837173"/>
                </a:cubicBezTo>
                <a:lnTo>
                  <a:pt x="26550" y="6837173"/>
                </a:lnTo>
                <a:lnTo>
                  <a:pt x="605591" y="4736246"/>
                </a:lnTo>
                <a:lnTo>
                  <a:pt x="997519" y="3290990"/>
                </a:lnTo>
                <a:cubicBezTo>
                  <a:pt x="1020276" y="3207609"/>
                  <a:pt x="1107512" y="3157076"/>
                  <a:pt x="1190954" y="3179816"/>
                </a:cubicBezTo>
                <a:cubicBezTo>
                  <a:pt x="1231411" y="3191186"/>
                  <a:pt x="1265547" y="3216453"/>
                  <a:pt x="1285776" y="3253089"/>
                </a:cubicBezTo>
                <a:cubicBezTo>
                  <a:pt x="1307268" y="3289726"/>
                  <a:pt x="1312326" y="3331416"/>
                  <a:pt x="1300947" y="3373106"/>
                </a:cubicBezTo>
                <a:lnTo>
                  <a:pt x="1043033" y="4324398"/>
                </a:lnTo>
                <a:cubicBezTo>
                  <a:pt x="1016483" y="4421675"/>
                  <a:pt x="1074640" y="4522742"/>
                  <a:pt x="1171990" y="4548009"/>
                </a:cubicBezTo>
                <a:cubicBezTo>
                  <a:pt x="1257961" y="4570749"/>
                  <a:pt x="1347725" y="4529059"/>
                  <a:pt x="1385654" y="4448205"/>
                </a:cubicBezTo>
                <a:lnTo>
                  <a:pt x="1385654" y="4446942"/>
                </a:lnTo>
                <a:lnTo>
                  <a:pt x="1725746" y="3178553"/>
                </a:lnTo>
                <a:lnTo>
                  <a:pt x="2545002" y="1263"/>
                </a:lnTo>
                <a:cubicBezTo>
                  <a:pt x="2536151" y="0"/>
                  <a:pt x="2527302" y="0"/>
                  <a:pt x="2518452" y="0"/>
                </a:cubicBezTo>
                <a:close/>
              </a:path>
            </a:pathLst>
          </a:custGeom>
          <a:solidFill>
            <a:schemeClr val="accent1"/>
          </a:solidFill>
          <a:ln w="1263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837857-A7AC-91ED-E566-3357A633900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pic>
        <p:nvPicPr>
          <p:cNvPr id="4" name="Picture Placeholder 6" descr="A close up of a circuit board">
            <a:extLst>
              <a:ext uri="{FF2B5EF4-FFF2-40B4-BE49-F238E27FC236}">
                <a16:creationId xmlns:a16="http://schemas.microsoft.com/office/drawing/2014/main" id="{1B05A4FF-9FB5-A00A-7651-7557F315A3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4" r="1194"/>
          <a:stretch/>
        </p:blipFill>
        <p:spPr>
          <a:xfrm>
            <a:off x="0" y="-21997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2589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52219-785E-4657-C5F4-A53FEF2E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80874" y="3140268"/>
            <a:ext cx="4786877" cy="151831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Placeholder 5" descr="A person and person looking at a computer screen">
            <a:extLst>
              <a:ext uri="{FF2B5EF4-FFF2-40B4-BE49-F238E27FC236}">
                <a16:creationId xmlns:a16="http://schemas.microsoft.com/office/drawing/2014/main" id="{AA35CD3A-9896-7953-C82D-AAE87F6124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27" r="127"/>
          <a:stretch/>
        </p:blipFill>
        <p:spPr>
          <a:xfrm>
            <a:off x="-29499" y="-2236"/>
            <a:ext cx="6814124" cy="6871095"/>
          </a:xfr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A8DFC8D-4AE6-170E-C27A-DA97EBD7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966C9E-A9A2-BF8C-EDCB-B7F6AE51C425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3BC35A-F255-48AA-48B8-D6561A6FA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94851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997564FD-A068-4008-83B6-070AA4A47434}" vid="{E6A5A359-31DF-46AC-82A0-260451C80A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ACD227D-A683-415D-A610-20912E1CEA1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E11EC4-AF13-4A6E-A5E0-5A264B291FD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9E5DFD21-F030-4913-A53B-53AB3DF1C0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 slides</Template>
  <TotalTime>78</TotalTime>
  <Words>188</Words>
  <Application>Microsoft Office PowerPoint</Application>
  <PresentationFormat>Widescreen</PresentationFormat>
  <Paragraphs>57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Book Antiqua</vt:lpstr>
      <vt:lpstr>Calibri</vt:lpstr>
      <vt:lpstr>Century Gothic</vt:lpstr>
      <vt:lpstr>Courier New</vt:lpstr>
      <vt:lpstr>Sitka Text</vt:lpstr>
      <vt:lpstr>Wingdings</vt:lpstr>
      <vt:lpstr>Custom</vt:lpstr>
      <vt:lpstr>Regression Models are Used in Business</vt:lpstr>
      <vt:lpstr>What is Regression?</vt:lpstr>
      <vt:lpstr>Types of Regression Models</vt:lpstr>
      <vt:lpstr>Why Businesses Use Regression</vt:lpstr>
      <vt:lpstr>Sales Forecasting</vt:lpstr>
      <vt:lpstr>Customer Demand Prediction</vt:lpstr>
      <vt:lpstr>Marketing ROI Analysis</vt:lpstr>
      <vt:lpstr>Pricing Strategy</vt:lpstr>
      <vt:lpstr>Risk &amp; Financial Forecasting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Kruti Patil</dc:creator>
  <cp:lastModifiedBy>Kruti Patil</cp:lastModifiedBy>
  <cp:revision>4</cp:revision>
  <dcterms:created xsi:type="dcterms:W3CDTF">2026-01-02T13:17:36Z</dcterms:created>
  <dcterms:modified xsi:type="dcterms:W3CDTF">2026-01-02T16:12:53Z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